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71" r:id="rId8"/>
    <p:sldId id="262" r:id="rId9"/>
    <p:sldId id="263" r:id="rId10"/>
    <p:sldId id="264" r:id="rId11"/>
    <p:sldId id="266" r:id="rId12"/>
    <p:sldId id="269" r:id="rId13"/>
    <p:sldId id="267" r:id="rId14"/>
    <p:sldId id="268" r:id="rId15"/>
    <p:sldId id="270" r:id="rId16"/>
    <p:sldId id="265" r:id="rId17"/>
  </p:sldIdLst>
  <p:sldSz cx="18288000" cy="10287000"/>
  <p:notesSz cx="6858000" cy="9144000"/>
  <p:embeddedFontLst>
    <p:embeddedFont>
      <p:font typeface="Gotham" panose="020B0604020202020204" charset="0"/>
      <p:regular r:id="rId18"/>
    </p:embeddedFont>
    <p:embeddedFont>
      <p:font typeface="Gotham Bold Italics"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2" autoAdjust="0"/>
  </p:normalViewPr>
  <p:slideViewPr>
    <p:cSldViewPr>
      <p:cViewPr varScale="1">
        <p:scale>
          <a:sx n="38" d="100"/>
          <a:sy n="38" d="100"/>
        </p:scale>
        <p:origin x="1044" y="3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latin typeface="Times New Roman" panose="02020603050405020304" pitchFamily="18" charset="0"/>
                <a:cs typeface="Times New Roman" panose="02020603050405020304" pitchFamily="18" charset="0"/>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Vel Tech Rangarajan Dr. Sagunthala R&amp;D Institute of Science and Technology</a:t>
            </a:r>
          </a:p>
          <a:p>
            <a:pPr algn="ctr"/>
            <a:r>
              <a:rPr lang="en-US" sz="3600" b="1" dirty="0">
                <a:latin typeface="Times New Roman" panose="02020603050405020304" pitchFamily="18" charset="0"/>
                <a:ea typeface="Cambria" panose="02040503050406030204" pitchFamily="18" charset="0"/>
                <a:cs typeface="Times New Roman" panose="02020603050405020304" pitchFamily="18" charset="0"/>
              </a:rPr>
              <a:t>School of Computing </a:t>
            </a:r>
          </a:p>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Department of Computer Science and Engineering</a:t>
            </a:r>
            <a:endParaRPr lang="en-IN" sz="3200" b="1"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Times New Roman" panose="02020603050405020304" pitchFamily="18" charset="0"/>
                <a:cs typeface="Times New Roman" panose="02020603050405020304" pitchFamily="18" charset="0"/>
              </a:rPr>
              <a:t>10211CS224 / FULL STACK APPLICATION DEVELOPMENT (JAVA)</a:t>
            </a:r>
            <a:endParaRPr lang="en-IN" sz="2800" b="1" dirty="0">
              <a:solidFill>
                <a:srgbClr val="0033CC"/>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Times New Roman" panose="02020603050405020304" pitchFamily="18" charset="0"/>
                <a:cs typeface="Times New Roman" panose="02020603050405020304" pitchFamily="18" charset="0"/>
              </a:rPr>
              <a:t>PROJECT REVIEW : MILESTONE PROJECT – 1</a:t>
            </a:r>
          </a:p>
          <a:p>
            <a:pPr algn="ctr"/>
            <a:endParaRPr lang="en-IN" sz="3600" b="1" dirty="0">
              <a:solidFill>
                <a:srgbClr val="C00000"/>
              </a:solidFill>
              <a:latin typeface="Times New Roman" panose="02020603050405020304" pitchFamily="18" charset="0"/>
              <a:cs typeface="Times New Roman" panose="02020603050405020304" pitchFamily="18" charset="0"/>
            </a:endParaRPr>
          </a:p>
          <a:p>
            <a:pPr algn="ctr"/>
            <a:r>
              <a:rPr lang="en-IN" sz="3600" b="1" dirty="0">
                <a:solidFill>
                  <a:srgbClr val="C00000"/>
                </a:solidFill>
                <a:latin typeface="Times New Roman" panose="02020603050405020304" pitchFamily="18" charset="0"/>
                <a:cs typeface="Times New Roman" panose="02020603050405020304" pitchFamily="18" charset="0"/>
              </a:rPr>
              <a:t>Date: 24-03-2026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End-to-End Event Lifecycle &amp; Ticketing Platform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469330" cy="1394356"/>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Times New Roman" panose="02020603050405020304" pitchFamily="18" charset="0"/>
                <a:ea typeface="Cambria" panose="02040503050406030204" pitchFamily="18" charset="0"/>
                <a:cs typeface="Times New Roman" panose="02020603050405020304" pitchFamily="18" charset="0"/>
              </a:rPr>
              <a:t>Malepati Prem Kumar Reddy – VTU26418 – 23UECS1122.</a:t>
            </a:r>
            <a:endParaRPr lang="en-IN" sz="3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Courses Handling Faculty:</a:t>
            </a:r>
          </a:p>
          <a:p>
            <a:pPr>
              <a:lnSpc>
                <a:spcPct val="150000"/>
              </a:lnSpc>
            </a:pPr>
            <a:r>
              <a:rPr lang="en-US" sz="3000" dirty="0" err="1">
                <a:latin typeface="Times New Roman" panose="02020603050405020304" pitchFamily="18" charset="0"/>
                <a:ea typeface="Cambria" panose="02040503050406030204" pitchFamily="18" charset="0"/>
                <a:cs typeface="Times New Roman" panose="02020603050405020304" pitchFamily="18" charset="0"/>
              </a:rPr>
              <a:t>Dr.N.K.Manikandan</a:t>
            </a:r>
            <a:r>
              <a:rPr lang="en-US" sz="3000" dirty="0">
                <a:latin typeface="Times New Roman" panose="02020603050405020304" pitchFamily="18" charset="0"/>
                <a:ea typeface="Cambria" panose="02040503050406030204" pitchFamily="18" charset="0"/>
                <a:cs typeface="Times New Roman" panose="02020603050405020304" pitchFamily="18" charset="0"/>
              </a:rPr>
              <a:t>.</a:t>
            </a:r>
            <a:endParaRPr lang="en-IN" sz="3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Times New Roman" panose="02020603050405020304" pitchFamily="18" charset="0"/>
                <a:ea typeface="Cambria" panose="02040503050406030204" pitchFamily="18" charset="0"/>
                <a:cs typeface="Times New Roman" panose="02020603050405020304" pitchFamily="18" charset="0"/>
              </a:rPr>
              <a:t>SDG: </a:t>
            </a:r>
            <a:r>
              <a:rPr lang="en-US" sz="2000" dirty="0">
                <a:latin typeface="Times New Roman" panose="02020603050405020304" pitchFamily="18" charset="0"/>
                <a:cs typeface="Times New Roman" panose="02020603050405020304" pitchFamily="18" charset="0"/>
              </a:rPr>
              <a:t>SDG 9 – Industry, Innovation, and Infrastructure</a:t>
            </a:r>
            <a:endParaRPr lang="en-IN" sz="20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7848302"/>
          </a:xfrm>
          <a:prstGeom prst="rect">
            <a:avLst/>
          </a:prstGeom>
          <a:noFill/>
        </p:spPr>
        <p:txBody>
          <a:bodyPr wrap="square" rtlCol="0">
            <a:spAutoFit/>
          </a:bodyPr>
          <a:lstStyle/>
          <a:p>
            <a:pPr marL="457200" indent="-457200" algn="just">
              <a:buFontTx/>
              <a:buChar char="-"/>
            </a:pPr>
            <a:r>
              <a:rPr lang="en-US" sz="2800" dirty="0">
                <a:latin typeface="Times New Roman" panose="02020603050405020304" pitchFamily="18" charset="0"/>
                <a:cs typeface="Times New Roman" panose="02020603050405020304" pitchFamily="18" charset="0"/>
              </a:rPr>
              <a:t>In the modern digital world, event booking systems are essential for efficient management and user convenience. Many existing systems still rely on manual processes, which leads to inefficiency and poor user experience. This project, </a:t>
            </a:r>
            <a:r>
              <a:rPr lang="en-US" sz="2800" i="1" dirty="0">
                <a:latin typeface="Times New Roman" panose="02020603050405020304" pitchFamily="18" charset="0"/>
                <a:cs typeface="Times New Roman" panose="02020603050405020304" pitchFamily="18" charset="0"/>
              </a:rPr>
              <a:t>Eventify</a:t>
            </a:r>
            <a:r>
              <a:rPr lang="en-US" sz="2800" dirty="0">
                <a:latin typeface="Times New Roman" panose="02020603050405020304" pitchFamily="18" charset="0"/>
                <a:cs typeface="Times New Roman" panose="02020603050405020304" pitchFamily="18" charset="0"/>
              </a:rPr>
              <a:t>, is a web-based platform that allows users to explore, view, and book events online. It provides an integrated system for event discovery and booking with real-time data. The system also includes an admin panel to manage events efficiently. It reduces manual work and improves accuracy. This project is highly relevant for real-world applications like ticket booking platforms. It ensures centralized and automated event management.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2677656"/>
          </a:xfrm>
          <a:prstGeom prst="rect">
            <a:avLst/>
          </a:prstGeom>
          <a:noFill/>
        </p:spPr>
        <p:txBody>
          <a:bodyPr wrap="square" rtlCol="0">
            <a:spAutoFit/>
          </a:bodyPr>
          <a:lstStyle/>
          <a:p>
            <a:pPr marL="457200" indent="-457200" algn="just">
              <a:buFontTx/>
              <a:buChar char="-"/>
            </a:pPr>
            <a:r>
              <a:rPr lang="en-US" sz="2800" dirty="0">
                <a:latin typeface="Times New Roman" panose="02020603050405020304" pitchFamily="18" charset="0"/>
                <a:cs typeface="Times New Roman" panose="02020603050405020304" pitchFamily="18" charset="0"/>
              </a:rPr>
              <a:t>In many small-scale event management systems, booking and tracking are done manually. This leads to inefficiency, data inconsistency, and difficulty in managing events. Users face problems in discovering events and booking tickets easily. There is no centralized system to handle bookings and event updates. Manual systems also increase the risk of errors and data loss. Therefore, there is a need for an automated, reliable, and user-friendly system. The system should allow easy event management and booking. This project aims to solve these issues using a web-based solution.</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819400" y="2254251"/>
            <a:ext cx="15082325" cy="954107"/>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design and develop a web-based event booking system using PHP and MySQL.</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user booking and admin event management modules efficiently.</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3539430"/>
          </a:xfrm>
          <a:prstGeom prst="rect">
            <a:avLst/>
          </a:prstGeom>
          <a:noFill/>
        </p:spPr>
        <p:txBody>
          <a:bodyPr wrap="square" rtlCol="0">
            <a:spAutoFit/>
          </a:bodyPr>
          <a:lstStyle/>
          <a:p>
            <a:pPr marL="457200" indent="-457200">
              <a:buFontTx/>
              <a:buChar char="-"/>
            </a:pPr>
            <a:r>
              <a:rPr lang="en-US" sz="2800" dirty="0">
                <a:latin typeface="Times New Roman" panose="02020603050405020304" pitchFamily="18" charset="0"/>
                <a:cs typeface="Times New Roman" panose="02020603050405020304" pitchFamily="18" charset="0"/>
              </a:rPr>
              <a:t>• Provides user login and registration using phone/email</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Displays events dynamically from database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Allows users to view event details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Enables users to book tickets online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Stores booking details securely in database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Provides admin dashboard to manage events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Supports image upload for event banners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Improves efficiency compared to manual systems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7848302"/>
          </a:xfrm>
          <a:prstGeom prst="rect">
            <a:avLst/>
          </a:prstGeom>
          <a:noFill/>
        </p:spPr>
        <p:txBody>
          <a:bodyPr wrap="square" numCol="2" rtlCol="0">
            <a:spAutoFit/>
          </a:bodyPr>
          <a:lstStyle/>
          <a:p>
            <a:pPr>
              <a:lnSpc>
                <a:spcPct val="150000"/>
              </a:lnSpc>
            </a:pPr>
            <a:r>
              <a:rPr lang="en-IN" sz="2800" b="1" dirty="0">
                <a:latin typeface="Times New Roman" panose="02020603050405020304" pitchFamily="18" charset="0"/>
                <a:cs typeface="Times New Roman" panose="02020603050405020304" pitchFamily="18" charset="0"/>
              </a:rPr>
              <a:t>Input:</a:t>
            </a:r>
            <a:endParaRPr lang="en-IN" sz="2800" dirty="0">
              <a:latin typeface="Times New Roman" panose="02020603050405020304" pitchFamily="18" charset="0"/>
              <a:cs typeface="Times New Roman" panose="02020603050405020304" pitchFamily="18" charset="0"/>
            </a:endParaRPr>
          </a:p>
          <a:p>
            <a:pPr>
              <a:lnSpc>
                <a:spcPct val="150000"/>
              </a:lnSpc>
            </a:pPr>
            <a:r>
              <a:rPr lang="en-IN" sz="2800" dirty="0">
                <a:latin typeface="Times New Roman" panose="02020603050405020304" pitchFamily="18" charset="0"/>
                <a:cs typeface="Times New Roman" panose="02020603050405020304" pitchFamily="18" charset="0"/>
              </a:rPr>
              <a:t>User login details </a:t>
            </a:r>
          </a:p>
          <a:p>
            <a:pPr>
              <a:lnSpc>
                <a:spcPct val="150000"/>
              </a:lnSpc>
            </a:pPr>
            <a:r>
              <a:rPr lang="en-IN" sz="2800" dirty="0">
                <a:latin typeface="Times New Roman" panose="02020603050405020304" pitchFamily="18" charset="0"/>
                <a:cs typeface="Times New Roman" panose="02020603050405020304" pitchFamily="18" charset="0"/>
              </a:rPr>
              <a:t>Event details (admin input) </a:t>
            </a:r>
          </a:p>
          <a:p>
            <a:pPr>
              <a:lnSpc>
                <a:spcPct val="150000"/>
              </a:lnSpc>
            </a:pPr>
            <a:r>
              <a:rPr lang="en-IN" sz="2800" dirty="0">
                <a:latin typeface="Times New Roman" panose="02020603050405020304" pitchFamily="18" charset="0"/>
                <a:cs typeface="Times New Roman" panose="02020603050405020304" pitchFamily="18" charset="0"/>
              </a:rPr>
              <a:t>Booking request </a:t>
            </a:r>
          </a:p>
          <a:p>
            <a:pPr>
              <a:lnSpc>
                <a:spcPct val="150000"/>
              </a:lnSpc>
            </a:pPr>
            <a:r>
              <a:rPr lang="en-IN" sz="2800" b="1" dirty="0">
                <a:latin typeface="Times New Roman" panose="02020603050405020304" pitchFamily="18" charset="0"/>
                <a:cs typeface="Times New Roman" panose="02020603050405020304" pitchFamily="18" charset="0"/>
              </a:rPr>
              <a:t>Processing:</a:t>
            </a:r>
            <a:endParaRPr lang="en-IN" sz="2800" dirty="0">
              <a:latin typeface="Times New Roman" panose="02020603050405020304" pitchFamily="18" charset="0"/>
              <a:cs typeface="Times New Roman" panose="02020603050405020304" pitchFamily="18" charset="0"/>
            </a:endParaRPr>
          </a:p>
          <a:p>
            <a:pPr>
              <a:lnSpc>
                <a:spcPct val="150000"/>
              </a:lnSpc>
            </a:pPr>
            <a:r>
              <a:rPr lang="en-IN" sz="2800" dirty="0">
                <a:latin typeface="Times New Roman" panose="02020603050405020304" pitchFamily="18" charset="0"/>
                <a:cs typeface="Times New Roman" panose="02020603050405020304" pitchFamily="18" charset="0"/>
              </a:rPr>
              <a:t>Authentication validation </a:t>
            </a:r>
          </a:p>
          <a:p>
            <a:pPr>
              <a:lnSpc>
                <a:spcPct val="150000"/>
              </a:lnSpc>
            </a:pPr>
            <a:r>
              <a:rPr lang="en-IN" sz="2800" dirty="0">
                <a:latin typeface="Times New Roman" panose="02020603050405020304" pitchFamily="18" charset="0"/>
                <a:cs typeface="Times New Roman" panose="02020603050405020304" pitchFamily="18" charset="0"/>
              </a:rPr>
              <a:t>Event fetching from database </a:t>
            </a:r>
          </a:p>
          <a:p>
            <a:pPr>
              <a:lnSpc>
                <a:spcPct val="150000"/>
              </a:lnSpc>
            </a:pPr>
            <a:r>
              <a:rPr lang="en-IN" sz="2800" dirty="0">
                <a:latin typeface="Times New Roman" panose="02020603050405020304" pitchFamily="18" charset="0"/>
                <a:cs typeface="Times New Roman" panose="02020603050405020304" pitchFamily="18" charset="0"/>
              </a:rPr>
              <a:t>Booking calculation </a:t>
            </a:r>
          </a:p>
          <a:p>
            <a:pPr>
              <a:lnSpc>
                <a:spcPct val="150000"/>
              </a:lnSpc>
            </a:pPr>
            <a:r>
              <a:rPr lang="en-IN" sz="2800" dirty="0">
                <a:latin typeface="Times New Roman" panose="02020603050405020304" pitchFamily="18" charset="0"/>
                <a:cs typeface="Times New Roman" panose="02020603050405020304" pitchFamily="18" charset="0"/>
              </a:rPr>
              <a:t>Session handling </a:t>
            </a:r>
          </a:p>
          <a:p>
            <a:pPr>
              <a:lnSpc>
                <a:spcPct val="150000"/>
              </a:lnSpc>
            </a:pPr>
            <a:endParaRPr lang="en-IN" sz="2800" dirty="0">
              <a:latin typeface="Times New Roman" panose="02020603050405020304" pitchFamily="18" charset="0"/>
              <a:cs typeface="Times New Roman" panose="02020603050405020304" pitchFamily="18" charset="0"/>
            </a:endParaRPr>
          </a:p>
          <a:p>
            <a:pPr>
              <a:lnSpc>
                <a:spcPct val="150000"/>
              </a:lnSpc>
            </a:pPr>
            <a:endParaRPr lang="en-IN" sz="2800" dirty="0">
              <a:latin typeface="Times New Roman" panose="02020603050405020304" pitchFamily="18" charset="0"/>
              <a:cs typeface="Times New Roman" panose="02020603050405020304" pitchFamily="18" charset="0"/>
            </a:endParaRPr>
          </a:p>
          <a:p>
            <a:pPr>
              <a:lnSpc>
                <a:spcPct val="150000"/>
              </a:lnSpc>
            </a:pPr>
            <a:endParaRPr lang="en-IN" sz="2800" dirty="0">
              <a:latin typeface="Times New Roman" panose="02020603050405020304" pitchFamily="18" charset="0"/>
              <a:cs typeface="Times New Roman" panose="02020603050405020304" pitchFamily="18" charset="0"/>
            </a:endParaRPr>
          </a:p>
          <a:p>
            <a:pPr>
              <a:lnSpc>
                <a:spcPct val="150000"/>
              </a:lnSpc>
            </a:pPr>
            <a:r>
              <a:rPr lang="en-IN" sz="2800" b="1" dirty="0">
                <a:latin typeface="Times New Roman" panose="02020603050405020304" pitchFamily="18" charset="0"/>
                <a:cs typeface="Times New Roman" panose="02020603050405020304" pitchFamily="18" charset="0"/>
              </a:rPr>
              <a:t>Database:</a:t>
            </a:r>
            <a:endParaRPr lang="en-IN" sz="2800" dirty="0">
              <a:latin typeface="Times New Roman" panose="02020603050405020304" pitchFamily="18" charset="0"/>
              <a:cs typeface="Times New Roman" panose="02020603050405020304" pitchFamily="18" charset="0"/>
            </a:endParaRPr>
          </a:p>
          <a:p>
            <a:pPr>
              <a:lnSpc>
                <a:spcPct val="150000"/>
              </a:lnSpc>
            </a:pPr>
            <a:r>
              <a:rPr lang="en-IN" sz="2800" dirty="0">
                <a:latin typeface="Times New Roman" panose="02020603050405020304" pitchFamily="18" charset="0"/>
                <a:cs typeface="Times New Roman" panose="02020603050405020304" pitchFamily="18" charset="0"/>
              </a:rPr>
              <a:t>Users </a:t>
            </a:r>
          </a:p>
          <a:p>
            <a:pPr>
              <a:lnSpc>
                <a:spcPct val="150000"/>
              </a:lnSpc>
            </a:pPr>
            <a:r>
              <a:rPr lang="en-IN" sz="2800" dirty="0">
                <a:latin typeface="Times New Roman" panose="02020603050405020304" pitchFamily="18" charset="0"/>
                <a:cs typeface="Times New Roman" panose="02020603050405020304" pitchFamily="18" charset="0"/>
              </a:rPr>
              <a:t>Admins </a:t>
            </a:r>
          </a:p>
          <a:p>
            <a:pPr>
              <a:lnSpc>
                <a:spcPct val="150000"/>
              </a:lnSpc>
            </a:pPr>
            <a:r>
              <a:rPr lang="en-IN" sz="2800" dirty="0">
                <a:latin typeface="Times New Roman" panose="02020603050405020304" pitchFamily="18" charset="0"/>
                <a:cs typeface="Times New Roman" panose="02020603050405020304" pitchFamily="18" charset="0"/>
              </a:rPr>
              <a:t>Events </a:t>
            </a:r>
          </a:p>
          <a:p>
            <a:pPr>
              <a:lnSpc>
                <a:spcPct val="150000"/>
              </a:lnSpc>
            </a:pPr>
            <a:r>
              <a:rPr lang="en-IN" sz="2800" dirty="0">
                <a:latin typeface="Times New Roman" panose="02020603050405020304" pitchFamily="18" charset="0"/>
                <a:cs typeface="Times New Roman" panose="02020603050405020304" pitchFamily="18" charset="0"/>
              </a:rPr>
              <a:t>Bookings </a:t>
            </a:r>
          </a:p>
          <a:p>
            <a:pPr>
              <a:lnSpc>
                <a:spcPct val="150000"/>
              </a:lnSpc>
            </a:pPr>
            <a:r>
              <a:rPr lang="en-IN" sz="2800" b="1" dirty="0">
                <a:latin typeface="Times New Roman" panose="02020603050405020304" pitchFamily="18" charset="0"/>
                <a:cs typeface="Times New Roman" panose="02020603050405020304" pitchFamily="18" charset="0"/>
              </a:rPr>
              <a:t>Output:</a:t>
            </a:r>
            <a:endParaRPr lang="en-IN" sz="2800" dirty="0">
              <a:latin typeface="Times New Roman" panose="02020603050405020304" pitchFamily="18" charset="0"/>
              <a:cs typeface="Times New Roman" panose="02020603050405020304" pitchFamily="18" charset="0"/>
            </a:endParaRPr>
          </a:p>
          <a:p>
            <a:pPr>
              <a:lnSpc>
                <a:spcPct val="150000"/>
              </a:lnSpc>
            </a:pPr>
            <a:r>
              <a:rPr lang="en-IN" sz="2800" dirty="0">
                <a:latin typeface="Times New Roman" panose="02020603050405020304" pitchFamily="18" charset="0"/>
                <a:cs typeface="Times New Roman" panose="02020603050405020304" pitchFamily="18" charset="0"/>
              </a:rPr>
              <a:t>Event list </a:t>
            </a:r>
          </a:p>
          <a:p>
            <a:pPr>
              <a:lnSpc>
                <a:spcPct val="150000"/>
              </a:lnSpc>
            </a:pPr>
            <a:r>
              <a:rPr lang="en-IN" sz="2800" dirty="0">
                <a:latin typeface="Times New Roman" panose="02020603050405020304" pitchFamily="18" charset="0"/>
                <a:cs typeface="Times New Roman" panose="02020603050405020304" pitchFamily="18" charset="0"/>
              </a:rPr>
              <a:t>Booking confirmation </a:t>
            </a:r>
          </a:p>
          <a:p>
            <a:pPr>
              <a:lnSpc>
                <a:spcPct val="150000"/>
              </a:lnSpc>
            </a:pPr>
            <a:r>
              <a:rPr lang="en-IN" sz="2800" dirty="0">
                <a:latin typeface="Times New Roman" panose="02020603050405020304" pitchFamily="18" charset="0"/>
                <a:cs typeface="Times New Roman" panose="02020603050405020304" pitchFamily="18" charset="0"/>
              </a:rPr>
              <a:t>Admin dashboard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7A1AE8A2-C118-EF90-6BA8-015D3E87557B}"/>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DAB5CD90-ED5B-B655-2ACF-9471D1961E34}"/>
              </a:ext>
            </a:extLst>
          </p:cNvPr>
          <p:cNvGrpSpPr/>
          <p:nvPr/>
        </p:nvGrpSpPr>
        <p:grpSpPr>
          <a:xfrm>
            <a:off x="709357" y="4655766"/>
            <a:ext cx="992463" cy="992463"/>
            <a:chOff x="0" y="0"/>
            <a:chExt cx="812800" cy="812800"/>
          </a:xfrm>
        </p:grpSpPr>
        <p:sp>
          <p:nvSpPr>
            <p:cNvPr id="6" name="Freeform 6">
              <a:extLst>
                <a:ext uri="{FF2B5EF4-FFF2-40B4-BE49-F238E27FC236}">
                  <a16:creationId xmlns:a16="http://schemas.microsoft.com/office/drawing/2014/main" id="{186C902A-E261-E441-A525-B30F9D0D671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2B35756D-1540-DD77-AE35-223F3C2F940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a:extLst>
              <a:ext uri="{FF2B5EF4-FFF2-40B4-BE49-F238E27FC236}">
                <a16:creationId xmlns:a16="http://schemas.microsoft.com/office/drawing/2014/main" id="{2101C96D-9A44-6544-5C0F-E1875FAE250F}"/>
              </a:ext>
            </a:extLst>
          </p:cNvPr>
          <p:cNvGrpSpPr/>
          <p:nvPr/>
        </p:nvGrpSpPr>
        <p:grpSpPr>
          <a:xfrm>
            <a:off x="951509" y="3320505"/>
            <a:ext cx="508158" cy="543805"/>
            <a:chOff x="0" y="0"/>
            <a:chExt cx="812800" cy="869819"/>
          </a:xfrm>
        </p:grpSpPr>
        <p:sp>
          <p:nvSpPr>
            <p:cNvPr id="9" name="Freeform 9">
              <a:extLst>
                <a:ext uri="{FF2B5EF4-FFF2-40B4-BE49-F238E27FC236}">
                  <a16:creationId xmlns:a16="http://schemas.microsoft.com/office/drawing/2014/main" id="{93BEE933-90D7-42B9-8B5D-AB86ACD9AD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8E4771BD-A4DE-EEC2-8517-7F0EC24510D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2534103F-85BE-3472-DE5B-8A936B6B1E16}"/>
              </a:ext>
            </a:extLst>
          </p:cNvPr>
          <p:cNvGrpSpPr/>
          <p:nvPr/>
        </p:nvGrpSpPr>
        <p:grpSpPr>
          <a:xfrm>
            <a:off x="951509" y="1987111"/>
            <a:ext cx="508158" cy="543805"/>
            <a:chOff x="0" y="0"/>
            <a:chExt cx="812800" cy="869819"/>
          </a:xfrm>
        </p:grpSpPr>
        <p:sp>
          <p:nvSpPr>
            <p:cNvPr id="12" name="Freeform 12">
              <a:extLst>
                <a:ext uri="{FF2B5EF4-FFF2-40B4-BE49-F238E27FC236}">
                  <a16:creationId xmlns:a16="http://schemas.microsoft.com/office/drawing/2014/main" id="{271E0C16-246B-A89E-3F6C-8953C0342AF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EACBB019-5A28-14C7-643C-7F274B3777C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D378E11E-5227-8DB7-D571-039321E4440E}"/>
              </a:ext>
            </a:extLst>
          </p:cNvPr>
          <p:cNvGrpSpPr/>
          <p:nvPr/>
        </p:nvGrpSpPr>
        <p:grpSpPr>
          <a:xfrm>
            <a:off x="951509" y="3988135"/>
            <a:ext cx="508158" cy="543805"/>
            <a:chOff x="0" y="0"/>
            <a:chExt cx="812800" cy="869819"/>
          </a:xfrm>
        </p:grpSpPr>
        <p:sp>
          <p:nvSpPr>
            <p:cNvPr id="15" name="Freeform 15">
              <a:extLst>
                <a:ext uri="{FF2B5EF4-FFF2-40B4-BE49-F238E27FC236}">
                  <a16:creationId xmlns:a16="http://schemas.microsoft.com/office/drawing/2014/main" id="{6D3C0436-7E10-5C28-9322-B6C1CA30FF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6C425884-F94D-D080-2B4E-F261C76F2AA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1C93C9A1-1849-6203-C9B5-8CF8EDD57601}"/>
              </a:ext>
            </a:extLst>
          </p:cNvPr>
          <p:cNvGrpSpPr/>
          <p:nvPr/>
        </p:nvGrpSpPr>
        <p:grpSpPr>
          <a:xfrm>
            <a:off x="951509" y="2652874"/>
            <a:ext cx="508158" cy="543805"/>
            <a:chOff x="0" y="0"/>
            <a:chExt cx="812800" cy="869819"/>
          </a:xfrm>
        </p:grpSpPr>
        <p:sp>
          <p:nvSpPr>
            <p:cNvPr id="18" name="Freeform 18">
              <a:extLst>
                <a:ext uri="{FF2B5EF4-FFF2-40B4-BE49-F238E27FC236}">
                  <a16:creationId xmlns:a16="http://schemas.microsoft.com/office/drawing/2014/main" id="{527CAAFD-5513-3DEA-3284-9D50DC0E219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E9660B9-7F69-47AB-2C68-4130C914252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44252A83-5858-74B5-703C-4CA1DCCDDCD8}"/>
              </a:ext>
            </a:extLst>
          </p:cNvPr>
          <p:cNvGrpSpPr/>
          <p:nvPr/>
        </p:nvGrpSpPr>
        <p:grpSpPr>
          <a:xfrm>
            <a:off x="951509" y="6430348"/>
            <a:ext cx="508158" cy="543805"/>
            <a:chOff x="0" y="0"/>
            <a:chExt cx="812800" cy="869819"/>
          </a:xfrm>
        </p:grpSpPr>
        <p:sp>
          <p:nvSpPr>
            <p:cNvPr id="21" name="Freeform 21">
              <a:extLst>
                <a:ext uri="{FF2B5EF4-FFF2-40B4-BE49-F238E27FC236}">
                  <a16:creationId xmlns:a16="http://schemas.microsoft.com/office/drawing/2014/main" id="{769EEE1E-6707-6466-B75E-DC1EC39F814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A777F7D3-E6BD-311D-3AE9-877793DFC2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a:extLst>
              <a:ext uri="{FF2B5EF4-FFF2-40B4-BE49-F238E27FC236}">
                <a16:creationId xmlns:a16="http://schemas.microsoft.com/office/drawing/2014/main" id="{01603A88-3007-57F4-6CB1-553116A2C892}"/>
              </a:ext>
            </a:extLst>
          </p:cNvPr>
          <p:cNvGrpSpPr/>
          <p:nvPr/>
        </p:nvGrpSpPr>
        <p:grpSpPr>
          <a:xfrm>
            <a:off x="951509" y="5764584"/>
            <a:ext cx="508158" cy="543805"/>
            <a:chOff x="0" y="0"/>
            <a:chExt cx="812800" cy="869819"/>
          </a:xfrm>
        </p:grpSpPr>
        <p:sp>
          <p:nvSpPr>
            <p:cNvPr id="24" name="Freeform 24">
              <a:extLst>
                <a:ext uri="{FF2B5EF4-FFF2-40B4-BE49-F238E27FC236}">
                  <a16:creationId xmlns:a16="http://schemas.microsoft.com/office/drawing/2014/main" id="{600BEC70-A9C5-4F3C-01B8-C656A2D34C9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0317A2E5-EDCA-E751-8235-74F25FDB407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a:extLst>
              <a:ext uri="{FF2B5EF4-FFF2-40B4-BE49-F238E27FC236}">
                <a16:creationId xmlns:a16="http://schemas.microsoft.com/office/drawing/2014/main" id="{88B4F0ED-EA21-6051-B509-8914D2DFBE7F}"/>
              </a:ext>
            </a:extLst>
          </p:cNvPr>
          <p:cNvGrpSpPr/>
          <p:nvPr/>
        </p:nvGrpSpPr>
        <p:grpSpPr>
          <a:xfrm>
            <a:off x="951509" y="7088453"/>
            <a:ext cx="508158" cy="543805"/>
            <a:chOff x="0" y="0"/>
            <a:chExt cx="812800" cy="869819"/>
          </a:xfrm>
        </p:grpSpPr>
        <p:sp>
          <p:nvSpPr>
            <p:cNvPr id="27" name="Freeform 27">
              <a:extLst>
                <a:ext uri="{FF2B5EF4-FFF2-40B4-BE49-F238E27FC236}">
                  <a16:creationId xmlns:a16="http://schemas.microsoft.com/office/drawing/2014/main" id="{C52028A1-09CD-66CF-A2CE-53C14BCCDB0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73831AFD-D710-0FEE-E3A9-2A28D8009D5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a:extLst>
              <a:ext uri="{FF2B5EF4-FFF2-40B4-BE49-F238E27FC236}">
                <a16:creationId xmlns:a16="http://schemas.microsoft.com/office/drawing/2014/main" id="{2066E4B6-09FE-5B1B-7D34-10F094BFC3FE}"/>
              </a:ext>
            </a:extLst>
          </p:cNvPr>
          <p:cNvGrpSpPr/>
          <p:nvPr/>
        </p:nvGrpSpPr>
        <p:grpSpPr>
          <a:xfrm>
            <a:off x="951509" y="7756083"/>
            <a:ext cx="508158" cy="543805"/>
            <a:chOff x="0" y="0"/>
            <a:chExt cx="812800" cy="869819"/>
          </a:xfrm>
        </p:grpSpPr>
        <p:sp>
          <p:nvSpPr>
            <p:cNvPr id="30" name="Freeform 30">
              <a:extLst>
                <a:ext uri="{FF2B5EF4-FFF2-40B4-BE49-F238E27FC236}">
                  <a16:creationId xmlns:a16="http://schemas.microsoft.com/office/drawing/2014/main" id="{F9969119-36E2-FAAC-0302-9F4ED912AA4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0D1F068D-C299-46E5-24CF-DD2811D184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a:extLst>
              <a:ext uri="{FF2B5EF4-FFF2-40B4-BE49-F238E27FC236}">
                <a16:creationId xmlns:a16="http://schemas.microsoft.com/office/drawing/2014/main" id="{249574C3-A119-8905-2620-65FC7C23377D}"/>
              </a:ext>
            </a:extLst>
          </p:cNvPr>
          <p:cNvGrpSpPr/>
          <p:nvPr/>
        </p:nvGrpSpPr>
        <p:grpSpPr>
          <a:xfrm>
            <a:off x="11762088" y="-9632634"/>
            <a:ext cx="10994424" cy="10994424"/>
            <a:chOff x="0" y="0"/>
            <a:chExt cx="812800" cy="812800"/>
          </a:xfrm>
        </p:grpSpPr>
        <p:sp>
          <p:nvSpPr>
            <p:cNvPr id="38" name="Freeform 38">
              <a:extLst>
                <a:ext uri="{FF2B5EF4-FFF2-40B4-BE49-F238E27FC236}">
                  <a16:creationId xmlns:a16="http://schemas.microsoft.com/office/drawing/2014/main" id="{30E1BD70-1D8D-1202-AAFD-B07B3D97719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a:extLst>
                <a:ext uri="{FF2B5EF4-FFF2-40B4-BE49-F238E27FC236}">
                  <a16:creationId xmlns:a16="http://schemas.microsoft.com/office/drawing/2014/main" id="{8E2748F5-6AB0-AE84-18E1-F64442D133D9}"/>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FF071BDA-F795-0A35-B8CA-E29A793258B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B7E77B1B-2F2B-E69D-24CF-956E724AD30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1D36FF1-1011-7605-19D4-2BE8DB8A25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0" y="1373626"/>
            <a:ext cx="14027420" cy="8002909"/>
          </a:xfrm>
          <a:prstGeom prst="rect">
            <a:avLst/>
          </a:prstGeom>
        </p:spPr>
      </p:pic>
    </p:spTree>
    <p:extLst>
      <p:ext uri="{BB962C8B-B14F-4D97-AF65-F5344CB8AC3E}">
        <p14:creationId xmlns:p14="http://schemas.microsoft.com/office/powerpoint/2010/main" val="1092672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887BD2E-0004-FA44-E17F-79B7811462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28900" y="1638300"/>
            <a:ext cx="14630400" cy="77303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6478184"/>
          </a:xfrm>
          <a:prstGeom prst="rect">
            <a:avLst/>
          </a:prstGeom>
          <a:noFill/>
        </p:spPr>
        <p:txBody>
          <a:bodyPr wrap="square" rtlCol="0">
            <a:spAutoFit/>
          </a:bodyPr>
          <a:lstStyle/>
          <a:p>
            <a:pPr>
              <a:lnSpc>
                <a:spcPct val="150000"/>
              </a:lnSpc>
            </a:pPr>
            <a:r>
              <a:rPr lang="en-IN" sz="2800" b="1" dirty="0">
                <a:latin typeface="Times New Roman" panose="02020603050405020304" pitchFamily="18" charset="0"/>
                <a:cs typeface="Times New Roman" panose="02020603050405020304" pitchFamily="18" charset="0"/>
              </a:rPr>
              <a:t>Frontend:</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HTML, CSS, JavaScript</a:t>
            </a:r>
          </a:p>
          <a:p>
            <a:pPr>
              <a:lnSpc>
                <a:spcPct val="150000"/>
              </a:lnSpc>
            </a:pPr>
            <a:r>
              <a:rPr lang="en-IN" sz="2800" b="1" dirty="0">
                <a:latin typeface="Times New Roman" panose="02020603050405020304" pitchFamily="18" charset="0"/>
                <a:cs typeface="Times New Roman" panose="02020603050405020304" pitchFamily="18" charset="0"/>
              </a:rPr>
              <a:t>Backend:</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MySQL.</a:t>
            </a:r>
          </a:p>
          <a:p>
            <a:pPr>
              <a:lnSpc>
                <a:spcPct val="150000"/>
              </a:lnSpc>
            </a:pPr>
            <a:r>
              <a:rPr lang="en-IN" sz="2800" b="1" dirty="0">
                <a:latin typeface="Times New Roman" panose="02020603050405020304" pitchFamily="18" charset="0"/>
                <a:cs typeface="Times New Roman" panose="02020603050405020304" pitchFamily="18" charset="0"/>
              </a:rPr>
              <a:t>Middleware:</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PHP.</a:t>
            </a:r>
          </a:p>
          <a:p>
            <a:pPr>
              <a:lnSpc>
                <a:spcPct val="150000"/>
              </a:lnSpc>
            </a:pPr>
            <a:r>
              <a:rPr lang="en-IN" sz="2800" b="1" dirty="0">
                <a:latin typeface="Times New Roman" panose="02020603050405020304" pitchFamily="18" charset="0"/>
                <a:cs typeface="Times New Roman" panose="02020603050405020304" pitchFamily="18" charset="0"/>
              </a:rPr>
              <a:t>Tools: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XAMPP, VS Code, phpMyAdmin</a:t>
            </a:r>
          </a:p>
          <a:p>
            <a:pPr>
              <a:lnSpc>
                <a:spcPct val="150000"/>
              </a:lnSpc>
            </a:pPr>
            <a:r>
              <a:rPr lang="en-IN" sz="2800" b="1" dirty="0">
                <a:latin typeface="Times New Roman" panose="02020603050405020304" pitchFamily="18" charset="0"/>
                <a:cs typeface="Times New Roman" panose="02020603050405020304" pitchFamily="18" charset="0"/>
              </a:rPr>
              <a:t>Hardware/Software:</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Windows OS, Web Browser, Apache Server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6478184"/>
          </a:xfrm>
          <a:prstGeom prst="rect">
            <a:avLst/>
          </a:prstGeom>
          <a:noFill/>
        </p:spPr>
        <p:txBody>
          <a:bodyPr wrap="square" rtlCol="0">
            <a:spAutoFit/>
          </a:bodyPr>
          <a:lstStyle/>
          <a:p>
            <a:pPr>
              <a:lnSpc>
                <a:spcPct val="150000"/>
              </a:lnSpc>
            </a:pPr>
            <a:r>
              <a:rPr lang="en-US" sz="2800" b="1" dirty="0">
                <a:latin typeface="Times New Roman" panose="02020603050405020304" pitchFamily="18" charset="0"/>
                <a:cs typeface="Times New Roman" panose="02020603050405020304" pitchFamily="18" charset="0"/>
              </a:rPr>
              <a:t>Module 1: User Management</a:t>
            </a:r>
          </a:p>
          <a:p>
            <a:pPr>
              <a:lnSpc>
                <a:spcPct val="150000"/>
              </a:lnSpc>
            </a:pPr>
            <a:r>
              <a:rPr lang="en-US" sz="2800" dirty="0">
                <a:latin typeface="Times New Roman" panose="02020603050405020304" pitchFamily="18" charset="0"/>
                <a:cs typeface="Times New Roman" panose="02020603050405020304" pitchFamily="18" charset="0"/>
              </a:rPr>
              <a:t>Handles user login and registration using phone/email and secure password verification.</a:t>
            </a:r>
          </a:p>
          <a:p>
            <a:pPr>
              <a:lnSpc>
                <a:spcPct val="150000"/>
              </a:lnSpc>
            </a:pPr>
            <a:r>
              <a:rPr lang="en-US" sz="2800" b="1" dirty="0">
                <a:latin typeface="Times New Roman" panose="02020603050405020304" pitchFamily="18" charset="0"/>
                <a:cs typeface="Times New Roman" panose="02020603050405020304" pitchFamily="18" charset="0"/>
              </a:rPr>
              <a:t>Module 2: Event Display</a:t>
            </a:r>
          </a:p>
          <a:p>
            <a:pPr>
              <a:lnSpc>
                <a:spcPct val="150000"/>
              </a:lnSpc>
            </a:pPr>
            <a:r>
              <a:rPr lang="en-US" sz="2800" dirty="0">
                <a:latin typeface="Times New Roman" panose="02020603050405020304" pitchFamily="18" charset="0"/>
                <a:cs typeface="Times New Roman" panose="02020603050405020304" pitchFamily="18" charset="0"/>
              </a:rPr>
              <a:t>Fetches and displays events dynamically from the database (Home, Live Events, Dining).</a:t>
            </a:r>
          </a:p>
          <a:p>
            <a:pPr>
              <a:lnSpc>
                <a:spcPct val="150000"/>
              </a:lnSpc>
            </a:pPr>
            <a:r>
              <a:rPr lang="en-US" sz="2800" b="1" dirty="0">
                <a:latin typeface="Times New Roman" panose="02020603050405020304" pitchFamily="18" charset="0"/>
                <a:cs typeface="Times New Roman" panose="02020603050405020304" pitchFamily="18" charset="0"/>
              </a:rPr>
              <a:t>Module 3: Event Details &amp; Booking</a:t>
            </a:r>
          </a:p>
          <a:p>
            <a:pPr>
              <a:lnSpc>
                <a:spcPct val="150000"/>
              </a:lnSpc>
            </a:pPr>
            <a:r>
              <a:rPr lang="en-US" sz="2800" dirty="0">
                <a:latin typeface="Times New Roman" panose="02020603050405020304" pitchFamily="18" charset="0"/>
                <a:cs typeface="Times New Roman" panose="02020603050405020304" pitchFamily="18" charset="0"/>
              </a:rPr>
              <a:t>Shows detailed event info and allows users to book tickets.</a:t>
            </a:r>
          </a:p>
          <a:p>
            <a:pPr>
              <a:lnSpc>
                <a:spcPct val="150000"/>
              </a:lnSpc>
            </a:pPr>
            <a:r>
              <a:rPr lang="en-US" sz="2800" b="1" dirty="0">
                <a:latin typeface="Times New Roman" panose="02020603050405020304" pitchFamily="18" charset="0"/>
                <a:cs typeface="Times New Roman" panose="02020603050405020304" pitchFamily="18" charset="0"/>
              </a:rPr>
              <a:t>Module 4: Booking Management</a:t>
            </a:r>
          </a:p>
          <a:p>
            <a:pPr>
              <a:lnSpc>
                <a:spcPct val="150000"/>
              </a:lnSpc>
            </a:pPr>
            <a:r>
              <a:rPr lang="en-US" sz="2800" dirty="0">
                <a:latin typeface="Times New Roman" panose="02020603050405020304" pitchFamily="18" charset="0"/>
                <a:cs typeface="Times New Roman" panose="02020603050405020304" pitchFamily="18" charset="0"/>
              </a:rPr>
              <a:t>Stores user bookings and allows users to view booking history.</a:t>
            </a:r>
          </a:p>
          <a:p>
            <a:pPr>
              <a:lnSpc>
                <a:spcPct val="150000"/>
              </a:lnSpc>
            </a:pPr>
            <a:r>
              <a:rPr lang="en-US" sz="2800" b="1" dirty="0">
                <a:latin typeface="Times New Roman" panose="02020603050405020304" pitchFamily="18" charset="0"/>
                <a:cs typeface="Times New Roman" panose="02020603050405020304" pitchFamily="18" charset="0"/>
              </a:rPr>
              <a:t>Module 5: Admin Management</a:t>
            </a:r>
          </a:p>
          <a:p>
            <a:pPr>
              <a:lnSpc>
                <a:spcPct val="150000"/>
              </a:lnSpc>
            </a:pPr>
            <a:r>
              <a:rPr lang="en-US" sz="2800" dirty="0">
                <a:latin typeface="Times New Roman" panose="02020603050405020304" pitchFamily="18" charset="0"/>
                <a:cs typeface="Times New Roman" panose="02020603050405020304" pitchFamily="18" charset="0"/>
              </a:rPr>
              <a:t>Admin can add events, upload images, and manage system data through dashboard.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9917BE2-625C-2722-EB47-5E2443D4DC4C}"/>
              </a:ext>
            </a:extLst>
          </p:cNvPr>
          <p:cNvPicPr>
            <a:picLocks noChangeAspect="1"/>
          </p:cNvPicPr>
          <p:nvPr/>
        </p:nvPicPr>
        <p:blipFill>
          <a:blip r:embed="rId4"/>
          <a:stretch>
            <a:fillRect/>
          </a:stretch>
        </p:blipFill>
        <p:spPr>
          <a:xfrm>
            <a:off x="2075572" y="2120003"/>
            <a:ext cx="15697200" cy="7382905"/>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pic>
        <p:nvPicPr>
          <p:cNvPr id="3" name="Picture 2">
            <a:extLst>
              <a:ext uri="{FF2B5EF4-FFF2-40B4-BE49-F238E27FC236}">
                <a16:creationId xmlns:a16="http://schemas.microsoft.com/office/drawing/2014/main" id="{4C058D06-389D-5672-AD96-93CADEAF5AB7}"/>
              </a:ext>
            </a:extLst>
          </p:cNvPr>
          <p:cNvPicPr>
            <a:picLocks noChangeAspect="1"/>
          </p:cNvPicPr>
          <p:nvPr/>
        </p:nvPicPr>
        <p:blipFill>
          <a:blip r:embed="rId4"/>
          <a:stretch>
            <a:fillRect/>
          </a:stretch>
        </p:blipFill>
        <p:spPr>
          <a:xfrm>
            <a:off x="1870048" y="1730746"/>
            <a:ext cx="15931818" cy="7621064"/>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472B393C-0E5B-3E14-EAA9-D64BF6350FF5}"/>
              </a:ext>
            </a:extLst>
          </p:cNvPr>
          <p:cNvPicPr>
            <a:picLocks noChangeAspect="1"/>
          </p:cNvPicPr>
          <p:nvPr/>
        </p:nvPicPr>
        <p:blipFill>
          <a:blip r:embed="rId4"/>
          <a:stretch>
            <a:fillRect/>
          </a:stretch>
        </p:blipFill>
        <p:spPr>
          <a:xfrm>
            <a:off x="1870047" y="1638300"/>
            <a:ext cx="15682365" cy="777240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4DC3436-83E6-23E9-77AB-5AA1C93EB459}"/>
              </a:ext>
            </a:extLst>
          </p:cNvPr>
          <p:cNvPicPr>
            <a:picLocks noChangeAspect="1"/>
          </p:cNvPicPr>
          <p:nvPr/>
        </p:nvPicPr>
        <p:blipFill>
          <a:blip r:embed="rId4"/>
          <a:stretch>
            <a:fillRect/>
          </a:stretch>
        </p:blipFill>
        <p:spPr>
          <a:xfrm>
            <a:off x="1878515" y="1539097"/>
            <a:ext cx="16009707" cy="7625305"/>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570488" y="7265869"/>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812641" y="3260086"/>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812641" y="1926693"/>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812641" y="3927717"/>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812641" y="2592456"/>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812641" y="5262978"/>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812641" y="4595347"/>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812641" y="5930608"/>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812641" y="6598238"/>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175404" y="829364"/>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621260" y="-409368"/>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25400" y="23483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2E5CBEC-B2FB-8A1F-61E0-8D761682811D}"/>
              </a:ext>
            </a:extLst>
          </p:cNvPr>
          <p:cNvSpPr txBox="1"/>
          <p:nvPr/>
        </p:nvSpPr>
        <p:spPr>
          <a:xfrm>
            <a:off x="2120738" y="1992142"/>
            <a:ext cx="14054666" cy="6478184"/>
          </a:xfrm>
          <a:prstGeom prst="rect">
            <a:avLst/>
          </a:prstGeom>
          <a:noFill/>
        </p:spPr>
        <p:txBody>
          <a:bodyPr wrap="square">
            <a:spAutoFit/>
          </a:bodyPr>
          <a:lstStyle/>
          <a:p>
            <a:pPr>
              <a:lnSpc>
                <a:spcPct val="150000"/>
              </a:lnSpc>
            </a:pPr>
            <a:r>
              <a:rPr lang="en-IN" sz="2800" b="1" dirty="0">
                <a:latin typeface="Times New Roman" panose="02020603050405020304" pitchFamily="18" charset="0"/>
                <a:cs typeface="Times New Roman" panose="02020603050405020304" pitchFamily="18" charset="0"/>
              </a:rPr>
              <a:t>Advantages:</a:t>
            </a:r>
          </a:p>
          <a:p>
            <a:pPr marL="457200" indent="-457200">
              <a:lnSpc>
                <a:spcPct val="150000"/>
              </a:lnSpc>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 Automated system.</a:t>
            </a:r>
          </a:p>
          <a:p>
            <a:pPr marL="457200" indent="-457200">
              <a:lnSpc>
                <a:spcPct val="150000"/>
              </a:lnSpc>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 User-friendly interface.</a:t>
            </a:r>
          </a:p>
          <a:p>
            <a:pPr marL="457200" indent="-457200">
              <a:lnSpc>
                <a:spcPct val="150000"/>
              </a:lnSpc>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Secure authentication.</a:t>
            </a:r>
          </a:p>
          <a:p>
            <a:pPr marL="457200" indent="-457200">
              <a:lnSpc>
                <a:spcPct val="150000"/>
              </a:lnSpc>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Real-time event display.</a:t>
            </a:r>
          </a:p>
          <a:p>
            <a:pPr marL="457200" indent="-457200">
              <a:lnSpc>
                <a:spcPct val="150000"/>
              </a:lnSpc>
              <a:buFont typeface="Wingdings" panose="05000000000000000000" pitchFamily="2" charset="2"/>
              <a:buChar char="§"/>
            </a:pPr>
            <a:r>
              <a:rPr lang="en-IN" sz="2800" dirty="0">
                <a:latin typeface="Times New Roman" panose="02020603050405020304" pitchFamily="18" charset="0"/>
                <a:cs typeface="Times New Roman" panose="02020603050405020304" pitchFamily="18" charset="0"/>
              </a:rPr>
              <a:t>Centralized database.</a:t>
            </a: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Limitations:</a:t>
            </a:r>
          </a:p>
          <a:p>
            <a:pPr>
              <a:lnSpc>
                <a:spcPct val="150000"/>
              </a:lnSpc>
            </a:pPr>
            <a:r>
              <a:rPr lang="en-IN" sz="2800" dirty="0">
                <a:latin typeface="Times New Roman" panose="02020603050405020304" pitchFamily="18" charset="0"/>
                <a:cs typeface="Times New Roman" panose="02020603050405020304" pitchFamily="18" charset="0"/>
              </a:rPr>
              <a:t>• No online payment system</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Runs on localhost</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No notification system</a:t>
            </a:r>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432</TotalTime>
  <Words>766</Words>
  <Application>Microsoft Office PowerPoint</Application>
  <PresentationFormat>Custom</PresentationFormat>
  <Paragraphs>230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Times New Roman</vt:lpstr>
      <vt:lpstr>Calibri</vt:lpstr>
      <vt:lpstr>Arial</vt:lpstr>
      <vt:lpstr>Gotham</vt:lpstr>
      <vt:lpstr>Gotham Bold Italics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Malepati prem Kumar Reddy</dc:creator>
  <cp:lastModifiedBy>Malepati prem Kumar Reddy</cp:lastModifiedBy>
  <cp:revision>15</cp:revision>
  <dcterms:created xsi:type="dcterms:W3CDTF">2006-08-16T00:00:00Z</dcterms:created>
  <dcterms:modified xsi:type="dcterms:W3CDTF">2026-03-25T04:51:08Z</dcterms:modified>
  <dc:identifier>DAHCaYqJ9OU</dc:identifier>
</cp:coreProperties>
</file>